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 D 采样与 Fig. 19 复现问题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D 采样与 Fig. 19 复现问题</a:t>
            </a:r>
          </a:p>
          <a:p>
            <a:pPr lvl="0" indent="0" marL="0">
              <a:buNone/>
            </a:pPr>
            <a:r>
              <a:rPr/>
              <a:t>联合分布、采样顺序、直方图范围与数值网格的技术审查</a:t>
            </a:r>
          </a:p>
          <a:p>
            <a:pPr lvl="0" indent="0" marL="0">
              <a:buNone/>
            </a:pPr>
            <a:r>
              <a:rPr/>
              <a:t>导师汇报简版 · 2026-09-20</a:t>
            </a:r>
          </a:p>
          <a:p>
            <a:pPr lvl="0" indent="0" marL="0">
              <a:buNone/>
            </a:pPr>
            <a:r>
              <a:rPr/>
              <a:t>1 /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最初的数值差距</a:t>
            </a:r>
          </a:p>
          <a:p>
            <a:pPr lvl="0" indent="0" marL="0">
              <a:buNone/>
            </a:pPr>
            <a:r>
              <a:rPr b="1"/>
              <a:t>2174 AU</a:t>
            </a:r>
            <a:r>
              <a:rPr/>
              <a:t>严格联合截断分支</a:t>
            </a:r>
          </a:p>
          <a:p>
            <a:pPr lvl="0" indent="0" marL="0">
              <a:buNone/>
            </a:pPr>
            <a:r>
              <a:rPr b="1"/>
              <a:t>7287 AU</a:t>
            </a:r>
            <a:r>
              <a:rPr/>
              <a:t>论文正文报告值</a:t>
            </a:r>
          </a:p>
          <a:p>
            <a:pPr lvl="0" indent="0" marL="0">
              <a:buNone/>
            </a:pPr>
            <a:r>
              <a:rPr b="1"/>
              <a:t>7299 AU</a:t>
            </a:r>
            <a:r>
              <a:rPr/>
              <a:t>顺序复现分支，固定种子</a:t>
            </a:r>
          </a:p>
          <a:p>
            <a:pPr lvl="0"/>
            <a:r>
              <a:rPr/>
              <a:t>红色阶梯频数总和恰好为 100000。</a:t>
            </a:r>
          </a:p>
          <a:p>
            <a:pPr lvl="0"/>
            <a:r>
              <a:rPr/>
              <a:t>差距来自采样定义，而不是绘图或样本数。</a:t>
            </a:r>
          </a:p>
          <a:p>
            <a:pPr lvl="0"/>
            <a:r>
              <a:rPr/>
              <a:t>论文文字采用先采样 j、再采样 a 的顺序。</a:t>
            </a:r>
          </a:p>
          <a:p>
            <a:pPr lvl="0" indent="0" marL="0">
              <a:buNone/>
            </a:pPr>
            <a:r>
              <a:rPr/>
              <a:t>论文 Fig. 19 半长轴矢量直方图</a:t>
            </a:r>
          </a:p>
          <a:p>
            <a:pPr lvl="0" indent="0" marL="0">
              <a:buNone/>
            </a:pPr>
            <a:r>
              <a:rPr/>
              <a:t>来源：Aljaf &amp; Cholis, Appendix D, Fig. 19；原始 a-distribution.pdf</a:t>
            </a:r>
          </a:p>
          <a:p>
            <a:pPr lvl="0" indent="0" marL="0">
              <a:buNone/>
            </a:pPr>
            <a:r>
              <a:rPr/>
              <a:t>2 /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采样范围与直方图范围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允许的随机变量范围</a:t>
            </a:r>
          </a:p>
          <a:p>
            <a:pPr lvl="0" indent="0" marL="0">
              <a:buNone/>
            </a:pPr>
            <a:r>
              <a:rPr/>
              <a:t>10</a:t>
            </a:r>
            <a:r>
              <a:rPr baseline="30000"/>
              <a:t>-6</a:t>
            </a:r>
            <a:r>
              <a:rPr/>
              <a:t> &lt; a &lt; 1 pc</a:t>
            </a:r>
          </a:p>
          <a:p>
            <a:pPr lvl="0" indent="0" marL="0">
              <a:buNone/>
            </a:pPr>
            <a:r>
              <a:rPr/>
              <a:t>这是 Appendix D 对样本的截断条件。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Fig. 19 的实际箱边界</a:t>
            </a:r>
          </a:p>
          <a:p>
            <a:pPr lvl="0" indent="0" marL="0">
              <a:buNone/>
            </a:pPr>
            <a:r>
              <a:rPr/>
              <a:t>8.6×10</a:t>
            </a:r>
            <a:r>
              <a:rPr baseline="30000"/>
              <a:t>-6</a:t>
            </a:r>
            <a:r>
              <a:rPr/>
              <a:t> &lt; a &lt; 0.4686 pc</a:t>
            </a:r>
          </a:p>
          <a:p>
            <a:pPr lvl="0" indent="0" marL="0">
              <a:buNone/>
            </a:pPr>
            <a:r>
              <a:rPr/>
              <a:t>这是有限样本的最小值和最大值，由矢量坐标反推。</a:t>
            </a:r>
          </a:p>
          <a:p>
            <a:pPr lvl="0" indent="0" marL="0">
              <a:buNone/>
            </a:pPr>
            <a:r>
              <a:rPr/>
              <a:t>Matplotlib 的 hist(a, bins=50) 默认用当前样本范围分箱。图只画到 0.4686 pc，并不表示采样器禁止更大的 a。</a:t>
            </a:r>
          </a:p>
          <a:p>
            <a:pPr lvl="0" indent="0" marL="0">
              <a:buNone/>
            </a:pPr>
            <a:r>
              <a:rPr/>
              <a:t>真实箱边界给出的箱中心均值约 7197 AU。论文的 7287 AU 来自未分箱原始样本，因此允许有小幅差异。</a:t>
            </a:r>
          </a:p>
          <a:p>
            <a:pPr lvl="0" indent="0" marL="0">
              <a:buNone/>
            </a:pPr>
            <a:r>
              <a:rPr/>
              <a:t>3 /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两种采样顺序回答不同问题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严格联合分支</a:t>
            </a:r>
          </a:p>
          <a:p>
            <a:pPr lvl="0" indent="0" marL="0">
              <a:buNone/>
            </a:pPr>
            <a:r>
              <a:rPr/>
              <a:t>P(a,j) = P(a) P(j | a)</a:t>
            </a:r>
          </a:p>
          <a:p>
            <a:pPr lvl="0" indent="-342900" marL="342900">
              <a:buAutoNum type="arabicPeriod"/>
            </a:pPr>
            <a:r>
              <a:rPr/>
              <a:t>对 j 积分得到 P(a)</a:t>
            </a:r>
          </a:p>
          <a:p>
            <a:pPr lvl="0" indent="-342900" marL="342900">
              <a:buAutoNum type="arabicPeriod"/>
            </a:pPr>
            <a:r>
              <a:rPr/>
              <a:t>逆 CDF 采样 a</a:t>
            </a:r>
          </a:p>
          <a:p>
            <a:pPr lvl="0" indent="-342900" marL="342900">
              <a:buAutoNum type="arabicPeriod"/>
            </a:pPr>
            <a:r>
              <a:rPr/>
              <a:t>按 P(j | a) 采样 j</a:t>
            </a:r>
          </a:p>
          <a:p>
            <a:pPr lvl="0" indent="0" marL="0">
              <a:buNone/>
            </a:pPr>
            <a:r>
              <a:rPr/>
              <a:t>数学上自洽，对应标准的边缘加条件采样。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论文文字顺序</a:t>
            </a:r>
          </a:p>
          <a:p>
            <a:pPr lvl="0" indent="0" marL="0">
              <a:buNone/>
            </a:pPr>
            <a:r>
              <a:rPr/>
              <a:t>P(a,j) = P(j) P(a | j)</a:t>
            </a:r>
          </a:p>
          <a:p>
            <a:pPr lvl="0" indent="-342900" marL="342900">
              <a:buAutoNum type="arabicPeriod"/>
            </a:pPr>
            <a:r>
              <a:rPr/>
              <a:t>先从 D2 采样 j</a:t>
            </a:r>
          </a:p>
          <a:p>
            <a:pPr lvl="0" indent="-342900" marL="342900">
              <a:buAutoNum type="arabicPeriod"/>
            </a:pPr>
            <a:r>
              <a:rPr/>
              <a:t>再按 P(a | j) 采样 a</a:t>
            </a:r>
          </a:p>
          <a:p>
            <a:pPr lvl="0" indent="0" marL="0">
              <a:buNone/>
            </a:pPr>
            <a:r>
              <a:rPr/>
              <a:t>D2 的尺度仍含 x/x̄，而此时 a 尚未确定。论文没有公开第一步所用的 x/x̄。</a:t>
            </a:r>
          </a:p>
          <a:p>
            <a:pPr lvl="0" indent="0" marL="0">
              <a:buNone/>
            </a:pPr>
            <a:r>
              <a:rPr/>
              <a:t>严格先 j 采样要求 P(j)=∫P(a,j)da；论文没有给出这一步。</a:t>
            </a:r>
          </a:p>
          <a:p>
            <a:pPr lvl="0" indent="0" marL="0">
              <a:buNone/>
            </a:pPr>
            <a:r>
              <a:rPr/>
              <a:t>4 /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限制 0 &lt; j &lt; 1 的逆 CDF</a:t>
            </a:r>
          </a:p>
          <a:p>
            <a:pPr lvl="0" indent="0" marL="0">
              <a:buNone/>
            </a:pPr>
            <a:r>
              <a:rPr/>
              <a:t>F</a:t>
            </a:r>
            <a:r>
              <a:rPr baseline="-25000"/>
              <a:t>raw</a:t>
            </a:r>
            <a:r>
              <a:rPr/>
              <a:t>(j | j₀) = 1 − [1 + (j/j₀)²]</a:t>
            </a:r>
            <a:r>
              <a:rPr baseline="30000"/>
              <a:t>−1/2</a:t>
            </a:r>
          </a:p>
          <a:p>
            <a:pPr lvl="0" indent="-342900" marL="342900">
              <a:buAutoNum type="arabicPeriod"/>
            </a:pPr>
            <a:r>
              <a:rPr/>
              <a:t>生成 u，且 u 在 0 到 1 之间均匀分布。</a:t>
            </a:r>
          </a:p>
          <a:p>
            <a:pPr lvl="0" indent="-342900" marL="342900">
              <a:buAutoNum type="arabicPeriod"/>
            </a:pPr>
            <a:r>
              <a:rPr/>
              <a:t>令 T = u F</a:t>
            </a:r>
            <a:r>
              <a:rPr baseline="-25000"/>
              <a:t>raw</a:t>
            </a:r>
            <a:r>
              <a:rPr/>
              <a:t>(1 | j₀)，只覆盖允许的原始 CDF 区间。</a:t>
            </a:r>
          </a:p>
          <a:p>
            <a:pPr lvl="0" indent="-342900" marL="342900">
              <a:buAutoNum type="arabicPeriod"/>
            </a:pPr>
            <a:r>
              <a:rPr/>
              <a:t>使用 j = j₀[(1−T)</a:t>
            </a:r>
            <a:r>
              <a:rPr baseline="30000"/>
              <a:t>−2</a:t>
            </a:r>
            <a:r>
              <a:rPr/>
              <a:t>−1]</a:t>
            </a:r>
            <a:r>
              <a:rPr baseline="30000"/>
              <a:t>1/2</a:t>
            </a:r>
            <a:r>
              <a:rPr/>
              <a:t> 得到样本。</a:t>
            </a:r>
          </a:p>
          <a:p>
            <a:pPr lvl="0" indent="0" marL="0">
              <a:buNone/>
            </a:pPr>
            <a:r>
              <a:rPr/>
              <a:t>这一步严格保证 0 &lt; j &lt; 1，但不能单独保证联合分布正确。联合正确性还依赖第一步使用的 j₀ 或真正的边缘 P(j)。</a:t>
            </a:r>
          </a:p>
          <a:p>
            <a:pPr lvl="0" indent="0" marL="0">
              <a:buNone/>
            </a:pPr>
            <a:r>
              <a:rPr/>
              <a:t>Fig. 19 复现使用由偏心率矢量图反推的有效 j₀ ≈ 1.089。</a:t>
            </a:r>
          </a:p>
          <a:p>
            <a:pPr lvl="0" indent="0" marL="0">
              <a:buNone/>
            </a:pPr>
            <a:r>
              <a:rPr/>
              <a:t>5 /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对数 a 网格的必要性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线性网格的问题</a:t>
            </a:r>
          </a:p>
          <a:p>
            <a:pPr lvl="0" indent="0" marL="0">
              <a:buNone/>
            </a:pPr>
            <a:r>
              <a:rPr/>
              <a:t>16384 点线性步长约 6.1×10</a:t>
            </a:r>
            <a:r>
              <a:rPr baseline="30000"/>
              <a:t>−5</a:t>
            </a:r>
            <a:r>
              <a:rPr/>
              <a:t> pc，跳过大量小 a 结构。低分位数误差达到 13% 到 19%。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审查结论</a:t>
            </a:r>
          </a:p>
          <a:p>
            <a:pPr lvl="0" indent="0" marL="0">
              <a:buNone/>
            </a:pPr>
            <a:r>
              <a:rPr/>
              <a:t>保留对数网格。积分仍按真实 da 执行，没有把测度改成 d ln a。</a:t>
            </a:r>
          </a:p>
          <a:p>
            <a:pPr lvl="0" indent="0" marL="0">
              <a:buNone/>
            </a:pPr>
            <a:r>
              <a:rPr/>
              <a:t>6 /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当前代码边界与汇报结论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理论问题</a:t>
            </a:r>
          </a:p>
          <a:p>
            <a:pPr lvl="0"/>
            <a:r>
              <a:rPr/>
              <a:t>sample_initial_orbital_parameters 保留严格联合截断定义。</a:t>
            </a:r>
          </a:p>
          <a:p>
            <a:pPr lvl="0"/>
            <a:r>
              <a:rPr/>
              <a:t>对数 a 网格继续保留。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论文复现问题</a:t>
            </a:r>
          </a:p>
          <a:p>
            <a:pPr lvl="0"/>
            <a:r>
              <a:rPr/>
              <a:t>sample_figure19_orbital_parameters 按论文文字顺序采样。</a:t>
            </a:r>
          </a:p>
          <a:p>
            <a:pPr lvl="0"/>
            <a:r>
              <a:rPr/>
              <a:t>有效尺度来自原始矢量图，不能当作新的理论常数。</a:t>
            </a:r>
          </a:p>
          <a:p>
            <a:pPr lvl="0" indent="0" marL="0">
              <a:buNone/>
            </a:pPr>
            <a:r>
              <a:rPr/>
              <a:t>结论：原严格程序没有数值网格错误，但它与作者未完整公开的 Fig. 19 采样实现不是同一个概率模型。现在两个分支已明确分开。</a:t>
            </a:r>
          </a:p>
          <a:p>
            <a:pPr lvl="0" indent="0" marL="0">
              <a:buNone/>
            </a:pPr>
            <a:r>
              <a:rPr/>
              <a:t>复现结果：固定种子均值 7298.88 AU；五个独立种子的均值平均 7290.92 AU，论文报告 7287 AU。</a:t>
            </a:r>
          </a:p>
          <a:p>
            <a:pPr lvl="0" indent="0" marL="0">
              <a:buNone/>
            </a:pPr>
            <a:r>
              <a:rPr/>
              <a:t>代码与推导说明：p_a_j.py；p(a,j)采样.md；counts.ipynb</a:t>
            </a:r>
          </a:p>
          <a:p>
            <a:pPr lvl="0" indent="0" marL="0">
              <a:buNone/>
            </a:pPr>
            <a:r>
              <a:rPr/>
              <a:t>7 / 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D 采样与 Fig. 19 复现问题</dc:title>
  <dc:creator/>
  <cp:keywords/>
  <dcterms:created xsi:type="dcterms:W3CDTF">2026-09-20T07:38:07Z</dcterms:created>
  <dcterms:modified xsi:type="dcterms:W3CDTF">2026-09-20T07:38:07Z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</vt:lpwstr>
  </property>
</Properties>
</file>